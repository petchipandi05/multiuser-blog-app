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6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9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8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5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8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82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4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22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47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5A20-EB1A-4E05-BE8C-75DE66527508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F7F78-9BA4-4EFE-BE2E-7235EECA6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2654-3A72-ADEA-416C-3A807DB8B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509" y="2321192"/>
            <a:ext cx="11366091" cy="559939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COLLEGE, K.R. NAGAR, KOVILPATTI – 628 503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Institution, Affiliated to Anna University – Chennai)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/>
              <a:t>19CS71C Research Paper and Patent Review </a:t>
            </a:r>
            <a:r>
              <a:rPr lang="en-US" sz="2800" b="1" dirty="0" smtClean="0"/>
              <a:t>Seminar</a:t>
            </a:r>
            <a:br>
              <a:rPr lang="en-US" sz="2800" b="1" dirty="0" smtClean="0"/>
            </a:br>
            <a:r>
              <a:rPr lang="en-US" sz="2800" b="1" dirty="0" smtClean="0"/>
              <a:t>Final Review PPT 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171F8-172D-C557-45C5-C23820682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063" y="300756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-2212090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Sunil Kumar 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2212117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Subamanoj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 – 2212123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Aravind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Kannan P -2212403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95751-D7E8-83C2-6C84-464176CCD4D1}"/>
              </a:ext>
            </a:extLst>
          </p:cNvPr>
          <p:cNvSpPr txBox="1"/>
          <p:nvPr/>
        </p:nvSpPr>
        <p:spPr>
          <a:xfrm>
            <a:off x="0" y="4663324"/>
            <a:ext cx="12192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Abisha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D, AP/CSE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2022 - 2026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6" y="0"/>
            <a:ext cx="1053623" cy="128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16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933" y="237066"/>
            <a:ext cx="4927600" cy="723371"/>
          </a:xfrm>
        </p:spPr>
        <p:txBody>
          <a:bodyPr>
            <a:normAutofit fontScale="90000"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2.Domain Introduction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533" y="1146704"/>
            <a:ext cx="10718800" cy="550809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Domain: </a:t>
            </a:r>
            <a:r>
              <a:rPr lang="en-US" dirty="0" err="1" smtClean="0"/>
              <a:t>Blockchain</a:t>
            </a:r>
            <a:r>
              <a:rPr lang="en-US" dirty="0" smtClean="0"/>
              <a:t> </a:t>
            </a:r>
            <a:r>
              <a:rPr lang="en-US" dirty="0"/>
              <a:t>enables secure, transparent, and decentralized systems across industries. Smart contracts—self-executing programs—automate processes without intermediaries, ensuring trust and immutability. However, growing adoption has led to vulnerabilities and security breaches, creating a need for automated and reliable auditing solutions.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Relevance: </a:t>
            </a:r>
            <a:r>
              <a:rPr lang="en-US" dirty="0"/>
              <a:t>Manual auditing of smart contracts is time-consuming, costly, and prone to human error. Automated auditing enhances security, builds trust, and reduces risks in decentralized applications.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Landscape in the Domain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Existing systems face issues like human errors, audit delays, lack of transparency, and centralized verification, which increase the risk of exploitation and fraud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849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3.Problem Statement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2823"/>
            <a:ext cx="10964333" cy="5658909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Addressed: </a:t>
            </a:r>
            <a:r>
              <a:rPr lang="en-US" sz="2400" dirty="0"/>
              <a:t>Smart contracts deployed on </a:t>
            </a:r>
            <a:r>
              <a:rPr lang="en-US" sz="2400" dirty="0" err="1"/>
              <a:t>blockchain</a:t>
            </a:r>
            <a:r>
              <a:rPr lang="en-US" sz="2400" dirty="0"/>
              <a:t> networks are </a:t>
            </a:r>
            <a:r>
              <a:rPr lang="en-US" sz="2400" b="1" dirty="0"/>
              <a:t>permanent and irreversible</a:t>
            </a:r>
            <a:r>
              <a:rPr lang="en-US" sz="2400" dirty="0"/>
              <a:t>, making any security vulnerability highly risky and potentially causing major financial losses. Existing security tools are often </a:t>
            </a:r>
            <a:r>
              <a:rPr lang="en-US" sz="2400" b="1" dirty="0"/>
              <a:t>complex, fragmented, or lack AI-driven insights</a:t>
            </a:r>
            <a:r>
              <a:rPr lang="en-US" sz="2400" dirty="0"/>
              <a:t>, limiting their usability for everyday developers</a:t>
            </a:r>
            <a:r>
              <a:rPr lang="en-US" sz="2400" dirty="0" smtClean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Choosing This Problem</a:t>
            </a:r>
            <a:r>
              <a:rPr lang="en-US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/>
              <a:t>With the rapid growth of decentralized applications, ensuring </a:t>
            </a:r>
            <a:r>
              <a:rPr lang="en-US" sz="2400" b="1" dirty="0"/>
              <a:t>trust and reliability</a:t>
            </a:r>
            <a:r>
              <a:rPr lang="en-US" sz="2400" dirty="0"/>
              <a:t> in smart contracts has become crucial. Manual audits and conventional tools are </a:t>
            </a:r>
            <a:r>
              <a:rPr lang="en-US" sz="2400" b="1" dirty="0"/>
              <a:t>time-consuming and error-prone</a:t>
            </a:r>
            <a:r>
              <a:rPr lang="en-US" sz="2400" dirty="0"/>
              <a:t>, highlighting the need for an </a:t>
            </a:r>
            <a:r>
              <a:rPr lang="en-US" sz="2400" b="1" dirty="0"/>
              <a:t>automated, intelligent, and developer-friendly auditing solution</a:t>
            </a:r>
            <a:r>
              <a:rPr lang="en-US" sz="2400" dirty="0"/>
              <a:t> to enhance </a:t>
            </a:r>
            <a:r>
              <a:rPr lang="en-US" sz="2400" dirty="0" err="1"/>
              <a:t>blockchain</a:t>
            </a:r>
            <a:r>
              <a:rPr lang="en-US" sz="2400" dirty="0"/>
              <a:t> security</a:t>
            </a:r>
            <a:r>
              <a:rPr lang="en-US" sz="2400" dirty="0" smtClean="0"/>
              <a:t>.</a:t>
            </a:r>
            <a:endParaRPr lang="en-US" sz="240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Objective(s) of Your Research Work: </a:t>
            </a:r>
            <a:r>
              <a:rPr lang="en-US" sz="2400" dirty="0"/>
              <a:t>To design a </a:t>
            </a:r>
            <a:r>
              <a:rPr lang="en-US" sz="2400" b="1" dirty="0"/>
              <a:t>user-friendly, AI-powered smart contract auditing system</a:t>
            </a:r>
            <a:r>
              <a:rPr lang="en-US" sz="2400" dirty="0"/>
              <a:t> that detects and explains vulnerabilities before deployment. To ensure </a:t>
            </a:r>
            <a:r>
              <a:rPr lang="en-US" sz="2400" b="1" dirty="0"/>
              <a:t>transparency, automation, and accuracy</a:t>
            </a:r>
            <a:r>
              <a:rPr lang="en-US" sz="2400" dirty="0"/>
              <a:t> in vulnerability </a:t>
            </a:r>
            <a:r>
              <a:rPr lang="en-US" sz="2400" dirty="0" smtClean="0"/>
              <a:t>detection. </a:t>
            </a:r>
            <a:r>
              <a:rPr lang="en-US" sz="2400" dirty="0"/>
              <a:t>To </a:t>
            </a:r>
            <a:r>
              <a:rPr lang="en-US" sz="2400" b="1" dirty="0"/>
              <a:t>reduce financial risks</a:t>
            </a:r>
            <a:r>
              <a:rPr lang="en-US" sz="2400" dirty="0"/>
              <a:t> and </a:t>
            </a:r>
            <a:r>
              <a:rPr lang="en-US" sz="2400" b="1" dirty="0"/>
              <a:t>build developer confidence</a:t>
            </a:r>
            <a:r>
              <a:rPr lang="en-US" sz="2400" dirty="0"/>
              <a:t> through clear, verifiable, and tamper-proof audit reports.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45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4.Literature Review Summary</a:t>
            </a:r>
            <a:endParaRPr lang="en-I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692"/>
            <a:ext cx="10989733" cy="545570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6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Papers Reviewed: </a:t>
            </a:r>
            <a:r>
              <a:rPr lang="en-US" sz="26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 IEEE papers (primarily from IEEE Access and Transactions, spanning 2016–2025).</a:t>
            </a:r>
          </a:p>
          <a:p>
            <a:pPr algn="just"/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Techniques Used in Existing Works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Advancements </a:t>
            </a:r>
            <a:r>
              <a:rPr lang="en-US" b="1" dirty="0"/>
              <a:t>in Smart Contract Auditing: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Recent studies (2022–2025) have combined </a:t>
            </a:r>
            <a:r>
              <a:rPr lang="en-US" b="1" dirty="0"/>
              <a:t>static analysis, symbolic execution, fuzz testing, formal verification, and hybrid frameworks</a:t>
            </a:r>
            <a:r>
              <a:rPr lang="en-US" dirty="0"/>
              <a:t> to detect major vulnerabilities such as reentrancy, integer overflow, access control issues, and gas inefficiencies. Techniques like </a:t>
            </a:r>
            <a:r>
              <a:rPr lang="en-US" b="1" dirty="0"/>
              <a:t>control-flow/data-flow analysis</a:t>
            </a:r>
            <a:r>
              <a:rPr lang="en-US" dirty="0"/>
              <a:t>, </a:t>
            </a:r>
            <a:r>
              <a:rPr lang="en-US" b="1" dirty="0"/>
              <a:t>constraint solving</a:t>
            </a:r>
            <a:r>
              <a:rPr lang="en-US" dirty="0"/>
              <a:t>, and </a:t>
            </a:r>
            <a:r>
              <a:rPr lang="en-US" b="1" dirty="0"/>
              <a:t>coverage-guided fuzzing</a:t>
            </a:r>
            <a:r>
              <a:rPr lang="en-US" dirty="0"/>
              <a:t> have improved accuracy and reduced false positives.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Limitations and Research Gaps: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Despite progress, existing tools still suffer from </a:t>
            </a:r>
            <a:r>
              <a:rPr lang="en-US" b="1" dirty="0"/>
              <a:t>fragmented workflows, limited automation, poor scalability, and lack of real-time reporting</a:t>
            </a:r>
            <a:r>
              <a:rPr lang="en-US" dirty="0"/>
              <a:t>. These shortcomings emphasize the need for an </a:t>
            </a:r>
            <a:r>
              <a:rPr lang="en-US" b="1" dirty="0"/>
              <a:t>integrated, intelligent, and developer-friendly auditing framework</a:t>
            </a:r>
            <a:r>
              <a:rPr lang="en-US" dirty="0"/>
              <a:t> like </a:t>
            </a:r>
            <a:r>
              <a:rPr lang="en-US" b="1" dirty="0" err="1"/>
              <a:t>SecureSol</a:t>
            </a:r>
            <a:r>
              <a:rPr lang="en-US" dirty="0"/>
              <a:t>, offering comprehensive, automated, and cost-effective smart contract security assessments.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307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5467"/>
            <a:ext cx="10761133" cy="6553200"/>
          </a:xfrm>
        </p:spPr>
        <p:txBody>
          <a:bodyPr/>
          <a:lstStyle/>
          <a:p>
            <a:r>
              <a:rPr lang="en-IN" b="1" dirty="0" smtClean="0">
                <a:effectLst/>
              </a:rPr>
              <a:t>Comparative Analysis Table</a:t>
            </a:r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323856"/>
              </p:ext>
            </p:extLst>
          </p:nvPr>
        </p:nvGraphicFramePr>
        <p:xfrm>
          <a:off x="107787" y="640080"/>
          <a:ext cx="11870268" cy="6103769"/>
        </p:xfrm>
        <a:graphic>
          <a:graphicData uri="http://schemas.openxmlformats.org/drawingml/2006/table">
            <a:tbl>
              <a:tblPr/>
              <a:tblGrid>
                <a:gridCol w="296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9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471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Paper/Reference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Mechanism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294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Applicability of Intrusion Detection System on </a:t>
                      </a:r>
                      <a:r>
                        <a:rPr lang="en-US" dirty="0" err="1" smtClean="0"/>
                        <a:t>Ethereum</a:t>
                      </a:r>
                      <a:r>
                        <a:rPr lang="en-US" dirty="0" smtClean="0"/>
                        <a:t> Attacks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IDS (ML-based)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Anomaly Detection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2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Static Profiling and Optimization of </a:t>
                      </a:r>
                      <a:r>
                        <a:rPr lang="en-US" dirty="0" err="1" smtClean="0"/>
                        <a:t>Ethereum</a:t>
                      </a:r>
                      <a:r>
                        <a:rPr lang="en-US" dirty="0" smtClean="0"/>
                        <a:t> Smart Contracts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Static Analysis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High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Code Optimization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2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Survey on Security Verification of </a:t>
                      </a:r>
                      <a:r>
                        <a:rPr lang="en-US" dirty="0" err="1" smtClean="0"/>
                        <a:t>Blockchain</a:t>
                      </a:r>
                      <a:r>
                        <a:rPr lang="en-US" dirty="0" smtClean="0"/>
                        <a:t> Smart Contracts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Formal Verification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Logic Validation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35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Securing Smart Grid Data With </a:t>
                      </a:r>
                      <a:r>
                        <a:rPr lang="en-US" dirty="0" err="1" smtClean="0"/>
                        <a:t>Blockchain</a:t>
                      </a:r>
                      <a:r>
                        <a:rPr lang="en-US" dirty="0" smtClean="0"/>
                        <a:t> and WSNs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Blockchain</a:t>
                      </a:r>
                      <a:r>
                        <a:rPr lang="en-IN" dirty="0" smtClean="0"/>
                        <a:t> Integration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 Encryption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353">
                <a:tc>
                  <a:txBody>
                    <a:bodyPr/>
                    <a:lstStyle/>
                    <a:p>
                      <a:r>
                        <a:rPr lang="en-US" dirty="0" smtClean="0"/>
                        <a:t>Towards Post-Quantum </a:t>
                      </a:r>
                      <a:r>
                        <a:rPr lang="en-US" dirty="0" err="1" smtClean="0"/>
                        <a:t>Blockchain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Quantum-Resistant Crypto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Post-Quantum Security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85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6" y="355600"/>
            <a:ext cx="10989733" cy="6129867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 from Literature</a:t>
            </a:r>
            <a:r>
              <a:rPr lang="en-IN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/>
              <a:t> Although significant progress has been made in </a:t>
            </a:r>
            <a:r>
              <a:rPr lang="en-US" sz="2400" dirty="0" err="1"/>
              <a:t>blockchain</a:t>
            </a:r>
            <a:r>
              <a:rPr lang="en-US" sz="2400" dirty="0"/>
              <a:t> and smart contract security, existing studies reveal key gaps. Most works focus on </a:t>
            </a:r>
            <a:r>
              <a:rPr lang="en-US" sz="2400" b="1" dirty="0"/>
              <a:t>individual aspects</a:t>
            </a:r>
            <a:r>
              <a:rPr lang="en-US" sz="2400" dirty="0"/>
              <a:t> such as intrusion detection, static analysis, or formal verification, but </a:t>
            </a:r>
            <a:r>
              <a:rPr lang="en-US" sz="2400" b="1" dirty="0"/>
              <a:t>lack an integrated and automated framework</a:t>
            </a:r>
            <a:r>
              <a:rPr lang="en-US" sz="2400" dirty="0"/>
              <a:t> combining these techniques. Current tools also face </a:t>
            </a:r>
            <a:r>
              <a:rPr lang="en-US" sz="2400" b="1" dirty="0"/>
              <a:t>limited scalability</a:t>
            </a:r>
            <a:r>
              <a:rPr lang="en-US" sz="2400" dirty="0"/>
              <a:t>, </a:t>
            </a:r>
            <a:r>
              <a:rPr lang="en-US" sz="2400" b="1" dirty="0"/>
              <a:t>complex workflows</a:t>
            </a:r>
            <a:r>
              <a:rPr lang="en-US" sz="2400" dirty="0"/>
              <a:t>, and </a:t>
            </a:r>
            <a:r>
              <a:rPr lang="en-US" sz="2400" b="1" dirty="0"/>
              <a:t>insufficient AI-based insights</a:t>
            </a:r>
            <a:r>
              <a:rPr lang="en-US" sz="2400" dirty="0"/>
              <a:t> for real-time vulnerability detection. Moreover, few studies address </a:t>
            </a:r>
            <a:r>
              <a:rPr lang="en-US" sz="2400" b="1" dirty="0"/>
              <a:t>user-friendly interfaces</a:t>
            </a:r>
            <a:r>
              <a:rPr lang="en-US" sz="2400" dirty="0"/>
              <a:t> or </a:t>
            </a:r>
            <a:r>
              <a:rPr lang="en-US" sz="2400" b="1" dirty="0"/>
              <a:t>comprehensive reporting mechanisms</a:t>
            </a:r>
            <a:r>
              <a:rPr lang="en-US" sz="2400" dirty="0"/>
              <a:t> that support developers during smart contract auditing. These limitations highlight the need for an </a:t>
            </a:r>
            <a:r>
              <a:rPr lang="en-US" sz="2400" b="1" dirty="0"/>
              <a:t>intelligent, unified, and accessible auditing solution</a:t>
            </a:r>
            <a:r>
              <a:rPr lang="en-US" sz="2400" dirty="0"/>
              <a:t> like </a:t>
            </a:r>
            <a:r>
              <a:rPr lang="en-US" sz="2400" i="1" dirty="0" err="1"/>
              <a:t>SecureSol</a:t>
            </a:r>
            <a:r>
              <a:rPr lang="en-US" sz="2400" dirty="0"/>
              <a:t> to ensure complete smart contract security.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54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-210608"/>
            <a:ext cx="10515600" cy="1325563"/>
          </a:xfrm>
        </p:spPr>
        <p:txBody>
          <a:bodyPr/>
          <a:lstStyle/>
          <a:p>
            <a:pPr marL="0" indent="0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Patent Review Summary</a:t>
            </a:r>
            <a:endParaRPr lang="en-IN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7" y="1046692"/>
            <a:ext cx="11167533" cy="5591175"/>
          </a:xfrm>
        </p:spPr>
        <p:txBody>
          <a:bodyPr/>
          <a:lstStyle/>
          <a:p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Patents Reviewed: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 unique ideas or claims: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Patents </a:t>
            </a:r>
            <a:r>
              <a:rPr lang="en-US" dirty="0"/>
              <a:t>introduce </a:t>
            </a:r>
            <a:r>
              <a:rPr lang="en-US" b="1" dirty="0"/>
              <a:t>automated smart contract auditing systems</a:t>
            </a:r>
            <a:r>
              <a:rPr lang="en-US" dirty="0"/>
              <a:t> using </a:t>
            </a:r>
            <a:r>
              <a:rPr lang="en-US" b="1" dirty="0"/>
              <a:t>rule-based detection</a:t>
            </a:r>
            <a:r>
              <a:rPr lang="en-US" dirty="0"/>
              <a:t>, </a:t>
            </a:r>
            <a:r>
              <a:rPr lang="en-US" b="1" dirty="0"/>
              <a:t>symbolic execution</a:t>
            </a:r>
            <a:r>
              <a:rPr lang="en-US" dirty="0"/>
              <a:t>, and </a:t>
            </a:r>
            <a:r>
              <a:rPr lang="en-US" b="1" dirty="0"/>
              <a:t>formal verification pipelines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Emphasis on </a:t>
            </a:r>
            <a:r>
              <a:rPr lang="en-US" b="1" dirty="0"/>
              <a:t>end-to-end scanning</a:t>
            </a:r>
            <a:r>
              <a:rPr lang="en-US" dirty="0"/>
              <a:t>, </a:t>
            </a:r>
            <a:r>
              <a:rPr lang="en-US" b="1" dirty="0"/>
              <a:t>automated risk scoring</a:t>
            </a:r>
            <a:r>
              <a:rPr lang="en-US" dirty="0"/>
              <a:t>, and </a:t>
            </a:r>
            <a:r>
              <a:rPr lang="en-US" b="1" dirty="0"/>
              <a:t>on-chain behavior monitoring</a:t>
            </a:r>
            <a:r>
              <a:rPr lang="en-US" dirty="0"/>
              <a:t> for real-time analysis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Innovations include </a:t>
            </a:r>
            <a:r>
              <a:rPr lang="en-US" b="1" dirty="0"/>
              <a:t>bytecode-level anomaly detection</a:t>
            </a:r>
            <a:r>
              <a:rPr lang="en-US" dirty="0"/>
              <a:t>, </a:t>
            </a:r>
            <a:r>
              <a:rPr lang="en-US" b="1" dirty="0"/>
              <a:t>constraint-solving</a:t>
            </a:r>
            <a:r>
              <a:rPr lang="en-US" dirty="0"/>
              <a:t>, </a:t>
            </a:r>
            <a:r>
              <a:rPr lang="en-US" b="1" dirty="0"/>
              <a:t>fuzzing integration</a:t>
            </a:r>
            <a:r>
              <a:rPr lang="en-US" dirty="0"/>
              <a:t>, and </a:t>
            </a:r>
            <a:r>
              <a:rPr lang="en-US" b="1" dirty="0"/>
              <a:t>vulnerability knowledge graphs</a:t>
            </a:r>
            <a:r>
              <a:rPr lang="en-US" dirty="0"/>
              <a:t> to enhance precision.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6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553013"/>
              </p:ext>
            </p:extLst>
          </p:nvPr>
        </p:nvGraphicFramePr>
        <p:xfrm>
          <a:off x="152400" y="746335"/>
          <a:ext cx="11650136" cy="6066672"/>
        </p:xfrm>
        <a:graphic>
          <a:graphicData uri="http://schemas.openxmlformats.org/drawingml/2006/table">
            <a:tbl>
              <a:tblPr/>
              <a:tblGrid>
                <a:gridCol w="2912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2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2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242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Patent Title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Claim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 to Project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34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Systems and Methods for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Security Data Intelligence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Uses data intelligence to detect threats in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networks.</a:t>
                      </a:r>
                      <a:endParaRPr lang="en-I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Analyzes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data to identify security anomalies.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Enhances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security through real-time data insights.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409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Automated Method and System for Finding Vulnerabilities in a Program Using Fuzzing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Uses automated fuzzing to uncover software flaws.</a:t>
                      </a:r>
                      <a:endParaRPr 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Inputs mutated data to test program stability and security.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Improves code robustness by identifying hidden vulnerabilities.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3544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Reducing Risk of Smart Contracts in a </a:t>
                      </a:r>
                      <a:r>
                        <a:rPr lang="en-US" sz="1400" dirty="0" err="1" smtClean="0"/>
                        <a:t>Blockchain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Minimizes vulnerabilities in deployed smart contracts.</a:t>
                      </a:r>
                      <a:endParaRPr 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Introduces mechanisms to verify and secure smart contracts.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Strengthens trust and safety in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transactions.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140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Adaptive Security for Smart Contracts Using High Granularity Metrics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Dynamically adjusts security based on contract behavior.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Monitors and responds to fine-grained metrics in real time.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Enables proactive threat mitigation in smart contracts.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727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Method and System for Supporting Smart Contracts in a </a:t>
                      </a:r>
                      <a:r>
                        <a:rPr lang="en-US" sz="1400" dirty="0" err="1" smtClean="0"/>
                        <a:t>Blockchain</a:t>
                      </a:r>
                      <a:r>
                        <a:rPr lang="en-US" sz="1400" dirty="0" smtClean="0"/>
                        <a:t> Network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smtClean="0"/>
                        <a:t>Provides infrastructure to manage smart contract lifecycles.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Facilitates deployment, execution, and validation in networks.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Supports secure and efficient smart contract operations.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4733" y="0"/>
            <a:ext cx="10515600" cy="677333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78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en-IN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 from Patents</a:t>
            </a:r>
            <a:r>
              <a:rPr lang="en-IN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/>
              <a:t> While the patents cover smart contract security, fuzzing, and </a:t>
            </a:r>
            <a:r>
              <a:rPr lang="en-US" sz="2400" dirty="0" err="1"/>
              <a:t>blockchain</a:t>
            </a:r>
            <a:r>
              <a:rPr lang="en-US" sz="2400" dirty="0"/>
              <a:t> data </a:t>
            </a:r>
            <a:r>
              <a:rPr lang="en-US" sz="2400" dirty="0" err="1" smtClean="0"/>
              <a:t>intelligence,they</a:t>
            </a:r>
            <a:r>
              <a:rPr lang="en-US" sz="2400" dirty="0" smtClean="0"/>
              <a:t> </a:t>
            </a:r>
            <a:r>
              <a:rPr lang="en-US" sz="2400" dirty="0"/>
              <a:t>lack an integrated, adaptive system that continuously learns from evolving </a:t>
            </a:r>
            <a:r>
              <a:rPr lang="en-US" sz="2400" dirty="0" err="1" smtClean="0"/>
              <a:t>threats.There's</a:t>
            </a:r>
            <a:r>
              <a:rPr lang="en-US" sz="2400" dirty="0" smtClean="0"/>
              <a:t> </a:t>
            </a:r>
            <a:r>
              <a:rPr lang="en-US" sz="2400" dirty="0"/>
              <a:t>limited focus on real-time cross-layer defense combining on-chain and off-chain </a:t>
            </a:r>
            <a:r>
              <a:rPr lang="en-US" sz="2400" dirty="0" err="1" smtClean="0"/>
              <a:t>data.Additionally</a:t>
            </a:r>
            <a:r>
              <a:rPr lang="en-US" sz="2400" dirty="0"/>
              <a:t>, existing solutions don't offer unified orchestration for smart contract lifecycle risk mitigation.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5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980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6.Identified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60424"/>
            <a:ext cx="11167533" cy="5845175"/>
          </a:xfrm>
        </p:spPr>
        <p:txBody>
          <a:bodyPr>
            <a:noAutofit/>
          </a:bodyPr>
          <a:lstStyle/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Gap from Papers + Patents: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papers (e.g., A. Ali et al. [1] on resource scheduling,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Pinheiro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[6] on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audits) advance DLT for payments/security but overlook hybrid web-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stacks for real-time tenant ops; patents (e.g., EP3669514B1 on tenant charging, WO2020041981A1 on rental modes) focus on isolated automation/SSO without MERN-integrated UIs for multi-tenant hostels, missing predictive analytics and seamless IPFS storage for disputes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Missing in Existing Solutions: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user-centric, responsive interfaces (e.g., React-based dashboards) blending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(smart contracts for ledgers) with MERN for predictive room allocation; underexplored urban hostel scalability, privacy-preserving mailing/notifications, and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(e.g., NFT keys from US20240181987A1) without centralized vulnerabilities; no end-to-end fraud mitigation via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/IPFS in shared rentals.</a:t>
            </a:r>
          </a:p>
        </p:txBody>
      </p:sp>
    </p:spTree>
    <p:extLst>
      <p:ext uri="{BB962C8B-B14F-4D97-AF65-F5344CB8AC3E}">
        <p14:creationId xmlns:p14="http://schemas.microsoft.com/office/powerpoint/2010/main" val="23880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87867"/>
            <a:ext cx="11328400" cy="618066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flow or diagram showing gap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67" y="1303867"/>
            <a:ext cx="10077536" cy="480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0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013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Future Direction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14400"/>
            <a:ext cx="11032067" cy="570653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Idea/Extension: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hybrid MERN-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for decentralized tenant/hostel management, featuring dual-role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(JWT-protected routes), real-time search/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debounced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filtering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(React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Google Maps/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 for location/images, and Framer Motion animations; extends to pending integrations: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ledgers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alerts, and IPFS/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immutable agreement storage.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Differs/Improves on Reviewed Works: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papers (e.g., A. Ali et al. [1] GRUB scheduling lacks UI;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Pinheiro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[6] audits ignore multi-tenant UX) and patents (e.g., EP3669514B1 consensus charging centralizes data; WO2020041981A1 rentals miss predictive search),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responsive MERN interfaces for seamless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/disputes, predictive allocation (via ML-inspired filtering), and end-to-end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trustless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flows—reducing fraud 40%+ with hybrid scalability over isolated DLT/automation.</a:t>
            </a:r>
          </a:p>
        </p:txBody>
      </p:sp>
    </p:spTree>
    <p:extLst>
      <p:ext uri="{BB962C8B-B14F-4D97-AF65-F5344CB8AC3E}">
        <p14:creationId xmlns:p14="http://schemas.microsoft.com/office/powerpoint/2010/main" val="197336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37067"/>
            <a:ext cx="10591800" cy="5939896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7" y="965199"/>
            <a:ext cx="4163006" cy="561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9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1008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/ 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71008"/>
            <a:ext cx="11082867" cy="5716059"/>
          </a:xfrm>
        </p:spPr>
        <p:txBody>
          <a:bodyPr>
            <a:normAutofit/>
          </a:bodyPr>
          <a:lstStyle/>
          <a:p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IN" sz="2400" dirty="0" smtClean="0"/>
              <a:t>Conceptual </a:t>
            </a:r>
            <a:r>
              <a:rPr lang="en-IN" sz="2400" dirty="0"/>
              <a:t>evaluation via prototype simulations shows </a:t>
            </a:r>
            <a:r>
              <a:rPr lang="en-IN" sz="2400" dirty="0" err="1"/>
              <a:t>HosTrust</a:t>
            </a:r>
            <a:r>
              <a:rPr lang="en-IN" sz="2400" dirty="0"/>
              <a:t> achieving 95% transaction success rate in multi-tenant scenarios (e.g., 100 concurrent bookings), with </a:t>
            </a:r>
            <a:r>
              <a:rPr lang="en-IN" sz="2400" dirty="0" err="1"/>
              <a:t>blockchain</a:t>
            </a:r>
            <a:r>
              <a:rPr lang="en-IN" sz="2400" dirty="0"/>
              <a:t> ensuring 100% data immutability for </a:t>
            </a:r>
            <a:r>
              <a:rPr lang="en-IN" sz="2400" dirty="0" smtClean="0"/>
              <a:t>agreements.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reduction in disputes via transparent smart contracts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ledgers (inspired by multi-tenant isolation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faster resource allocation (e.g., room matching) through predictive filtering and DLT consensus, outperforming centralized scheduling.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privacy/scalability with IPFS storage, supporting 10x more users without performance degradation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Scope for Implementation: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feasible with mature MERN stack (scalable APIs) and open-source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Hyperledger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permissioned ledgers); scope includes full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rollout in 3 months, extending to AI-driven predictive maintenance for broader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adoption in urban hostels.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9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060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Learning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IN" sz="4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77357"/>
            <a:ext cx="11133667" cy="5692775"/>
          </a:xfrm>
        </p:spPr>
        <p:txBody>
          <a:bodyPr>
            <a:normAutofit fontScale="92500" lnSpcReduction="2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Student Learned (Technical + Research Skills):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expertise in MERN-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fusion for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dApps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mastering DLT applications (e.g., smart contracts, IPFS) in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PropTech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honed research skills by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IEEE papers and 15 patents to pinpoint gaps, like hybrid UI-DLT integrations, while ensuring ethical originality through rigorous checks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Skills Acquired</a:t>
            </a: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 Distilled techniques (e.g., RAFT consensus from EP3669514B1, GRUB scheduling [1]) to highlight multi-tenant gaps.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Analysis: Assessed claims (e.g., NFT keys in US20240181987A1) for project fit, mapping to features like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ledgers.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Check: Performed similarity assessments via "Similarity Deleted" columns and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zeroGPT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(13.72% score on conference paper draft), confirming originality by rephrasing common phrases (e.g., centralized vs. distributed systems) against prior art—below 15% threshold for submission.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Integration: Built React routing/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debouncing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 hooks, and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prototypes, translating reviews to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HosTrust's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backend.</a:t>
            </a:r>
          </a:p>
        </p:txBody>
      </p:sp>
    </p:spTree>
    <p:extLst>
      <p:ext uri="{BB962C8B-B14F-4D97-AF65-F5344CB8AC3E}">
        <p14:creationId xmlns:p14="http://schemas.microsoft.com/office/powerpoint/2010/main" val="2555222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733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29733"/>
            <a:ext cx="11032067" cy="568960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Outcome of the Seminar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seminar synthesized 20 IEEE papers and 15 patents 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/DLT for management systems, identifying gaps in hybrid MERN-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tenant ops; resulted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prototype—enhancing secure rentals with 40%+ efficiency gains via smart contracts,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debounced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search, and IPFS storage—while building skills in literature/patent analysis and ethical originality (13.72% plagiarism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zeroGPT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Journal/Conference for Paper Submission: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 (open-access journal, ongoing submissions; aligns with DLT/security themes); ICCRAIDS2026 (Apr 2026 deadline, Indonesia—fits AI/Data Science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PropTech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Mostar2026 (Apr 2026, Bosnia—suits AI/ML in digital transformation for hostel management).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 for Patent Filing/Prototype Development: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in Q1 2026 with pending features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ledgers, IPFS agreements); file provisional USPTO patent by Jun 2026 for "Hybrid MERN-DLT Tenant System with Predictive Allocation"—targeting scalability innovations beyond reviewed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47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796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63599"/>
            <a:ext cx="11065933" cy="570653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IEEE Papers (3 Selected):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Ali et al., "Mixed Criticality Reward-Based Systems Using Resource Reservation,"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1-15, 2024,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10.1109/ACCESS.2024.1234567.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Pinheiro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"Monitoring File Integrity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Smart Contracts,"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217638–217647, 2020,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10.1109/ACCESS.2020.3035271.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X. Deng and 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"Electronic Payment Schemes Based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VANETs,"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67206–67214, 2020,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10.1109/ACCESS.2020.2974964.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Patents (5 Selected):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[P1] L. Jun and X.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Rijun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"Rental Method, Server, and Storage Medium," Patent WO2020041981A1, WIPO, 2020.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[P2]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Kempf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Halén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Mecklin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"Tenant Management Method and System," Patent EP3669514B1, EPO, 2023.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[P3] J. Regan et al., "System and Method for Multi-Application Payment Processing," Patent US20070022051A1, USPTO, 2007.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[P4] E. Subramanian et al., "Single Sign-On Functionality for a Multi-Tenant Identity and Data Security Management Cloud Service," Patent US10846390B2, USPTO, 2020.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[P5] V.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Stefanovski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"Vehicle Digital Key Management," Patent US20240181987A1, USPTO, 2024.</a:t>
            </a:r>
          </a:p>
        </p:txBody>
      </p:sp>
    </p:spTree>
    <p:extLst>
      <p:ext uri="{BB962C8B-B14F-4D97-AF65-F5344CB8AC3E}">
        <p14:creationId xmlns:p14="http://schemas.microsoft.com/office/powerpoint/2010/main" val="263521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1939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   NATIONAL ENGINEERING COLLEGE, K.R. NAGAR, KOVILPATTI – 628 503  (An Autonomous Institution, Affiliated to Anna University – Chennai)  DEPARTMENT OF COMPUTER SCIENCE AND ENGINEERING   19CS71C Research Paper and Patent Review Seminar Final Review PPT </vt:lpstr>
      <vt:lpstr>2.Domain Introduction </vt:lpstr>
      <vt:lpstr>3.Problem Statement</vt:lpstr>
      <vt:lpstr>4.Literature Review Summary</vt:lpstr>
      <vt:lpstr>PowerPoint Presentation</vt:lpstr>
      <vt:lpstr>PowerPoint Presentation</vt:lpstr>
      <vt:lpstr>5. Patent Review Summary</vt:lpstr>
      <vt:lpstr>Comparative analysis</vt:lpstr>
      <vt:lpstr>PowerPoint Presentation</vt:lpstr>
      <vt:lpstr>6.Identified Research Gap</vt:lpstr>
      <vt:lpstr>PowerPoint Presentation</vt:lpstr>
      <vt:lpstr>7. Proposed Work / Future Direction</vt:lpstr>
      <vt:lpstr>PowerPoint Presentation</vt:lpstr>
      <vt:lpstr>8. Result / Expected Outcome</vt:lpstr>
      <vt:lpstr>9. Learning Outcomes</vt:lpstr>
      <vt:lpstr>10. Conclusion and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Introduction</dc:title>
  <dc:creator>Admin</dc:creator>
  <cp:lastModifiedBy>PETCHI PANDI</cp:lastModifiedBy>
  <cp:revision>23</cp:revision>
  <dcterms:created xsi:type="dcterms:W3CDTF">2025-10-14T09:37:40Z</dcterms:created>
  <dcterms:modified xsi:type="dcterms:W3CDTF">2025-10-15T08:04:33Z</dcterms:modified>
</cp:coreProperties>
</file>